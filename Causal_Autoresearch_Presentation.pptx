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val_bpb</c:v>
                </c:pt>
              </c:strCache>
            </c:strRef>
          </c:tx>
          <c:spPr>
            <a:solidFill>
              <a:srgbClr val="00BBFF"/>
            </a:solidFill>
          </c:spPr>
          <c:dPt>
            <c:idx val="0"/>
            <c:spPr>
              <a:solidFill>
                <a:srgbClr val="00FF88"/>
              </a:solidFill>
            </c:spPr>
          </c:dPt>
          <c:cat>
            <c:strRef>
              <c:f>Sheet1!$A$2:$A$16</c:f>
              <c:strCache>
                <c:ptCount val="15"/>
                <c:pt idx="0">
                  <c:v>baseline</c:v>
                </c:pt>
                <c:pt idx="1">
                  <c:v>d=6 b=8</c:v>
                </c:pt>
                <c:pt idx="2">
                  <c:v>b=32K</c:v>
                </c:pt>
                <c:pt idx="3">
                  <c:v>b=2K</c:v>
                </c:pt>
                <c:pt idx="4">
                  <c:v>2x LR</c:v>
                </c:pt>
                <c:pt idx="5">
                  <c:v>1.5x LR</c:v>
                </c:pt>
                <c:pt idx="6">
                  <c:v>5% warm</c:v>
                </c:pt>
                <c:pt idx="7">
                  <c:v>wd=0.3</c:v>
                </c:pt>
                <c:pt idx="8">
                  <c:v>GELU</c:v>
                </c:pt>
                <c:pt idx="9">
                  <c:v>SwiGLU</c:v>
                </c:pt>
                <c:pt idx="10">
                  <c:v>d=5</c:v>
                </c:pt>
                <c:pt idx="11">
                  <c:v>HD=64</c:v>
                </c:pt>
                <c:pt idx="12">
                  <c:v>b=16K</c:v>
                </c:pt>
                <c:pt idx="13">
                  <c:v>no WD</c:v>
                </c:pt>
                <c:pt idx="14">
                  <c:v>no SC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1.423926</c:v>
                </c:pt>
                <c:pt idx="1">
                  <c:v>1.474077</c:v>
                </c:pt>
                <c:pt idx="2">
                  <c:v>1.454762</c:v>
                </c:pt>
                <c:pt idx="3">
                  <c:v>1.541201</c:v>
                </c:pt>
                <c:pt idx="4">
                  <c:v>1.437222</c:v>
                </c:pt>
                <c:pt idx="5">
                  <c:v>1.429658</c:v>
                </c:pt>
                <c:pt idx="6">
                  <c:v>1.440523</c:v>
                </c:pt>
                <c:pt idx="7">
                  <c:v>1.435471</c:v>
                </c:pt>
                <c:pt idx="8">
                  <c:v>1.437929</c:v>
                </c:pt>
                <c:pt idx="9">
                  <c:v>1.432815</c:v>
                </c:pt>
                <c:pt idx="10">
                  <c:v>1.523925</c:v>
                </c:pt>
                <c:pt idx="11">
                  <c:v>1.439469</c:v>
                </c:pt>
                <c:pt idx="12">
                  <c:v>1.428779</c:v>
                </c:pt>
                <c:pt idx="13">
                  <c:v>1.427459</c:v>
                </c:pt>
                <c:pt idx="14">
                  <c:v>1.434259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56"/>
          <c:min val="1.4"/>
        </c:scaling>
        <c:delete val="0"/>
        <c:axPos val="l"/>
        <c:majorGridlines>
          <c:spPr>
            <a:ln>
              <a:solidFill>
                <a:srgbClr val="25305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88"/>
                </a:solidFill>
                <a:latin typeface="Calibri"/>
              </a:defRPr>
            </a:pPr>
            <a:r>
              <a:t>CAUSAL VERIFICATION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for Karpathy's Autoresearch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88899"/>
                </a:solidFill>
                <a:latin typeface="Calibri"/>
              </a:defRPr>
            </a:pPr>
            <a:r>
              <a:t>Applying Pearl's Do-Calculus to Verify Agent-Discovered Optimizations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77"/>
                </a:solidFill>
                <a:latin typeface="Calibri"/>
              </a:defRPr>
            </a:pPr>
            <a:r>
              <a:t>Automated Research Hackathon  |  April 9,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77"/>
                </a:solidFill>
                <a:latin typeface="Calibri"/>
              </a:defRPr>
            </a:pPr>
            <a:r>
              <a:t>Hardware: Dell G15 + GTX 1650 (4GB VRAM)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4572000"/>
            <a:ext cx="2560320" cy="128016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4709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FF88"/>
                </a:solidFill>
                <a:latin typeface="Calibri"/>
              </a:defRPr>
            </a:pPr>
            <a:r>
              <a:t>~200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5257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Calibri"/>
              </a:defRPr>
            </a:pPr>
            <a:r>
              <a:t>Lines of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444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Karpathy's Ratchet Can't Tell</a:t>
            </a:r>
            <a:br/>
            <a:r>
              <a:t>Causation from Correlation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77"/>
                </a:solidFill>
                <a:latin typeface="Calibri"/>
              </a:defRPr>
            </a:pPr>
            <a:r>
              <a:t>The Reproducibility Crisis at 100x Speed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CCCCCC"/>
                </a:solidFill>
                <a:latin typeface="Calibri"/>
              </a:rPr>
              <a:t>Autoresearch: an AI agent edits code, trains for 5 min, keeps changes if val_bpb improves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CCCCCC"/>
                </a:solidFill>
                <a:latin typeface="Calibri"/>
              </a:rPr>
              <a:t>But does val_bpb improve BECAUSE of the change?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CCCCCC"/>
                </a:solidFill>
                <a:latin typeface="Calibri"/>
              </a:rPr>
              <a:t>Or because of random seed, data order, or GPU noise?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CCCCCC"/>
                </a:solidFill>
                <a:latin typeface="Calibri"/>
              </a:rPr>
              <a:t>The greedy ratchet has no mechanism to distinguish real from spurious improvements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CCCCCC"/>
                </a:solidFill>
                <a:latin typeface="Calibri"/>
              </a:rPr>
              <a:t>This is the reproducibility crisis - but automated at 100x the speed of human research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2743200"/>
            <a:ext cx="2560320" cy="146304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0" y="29260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BBFF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0" y="3703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Experiments Run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4389120"/>
            <a:ext cx="2560320" cy="146304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0" y="45720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4444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0" y="5349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Discarded by Ratchet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88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Architecture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011680" cy="128016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00B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BFF"/>
                </a:solidFill>
                <a:latin typeface="Calibri"/>
              </a:defRPr>
            </a:pPr>
            <a:r>
              <a:t>AI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Edits train.py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286000"/>
            <a:ext cx="2011680" cy="128016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2377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CC00"/>
                </a:solidFill>
                <a:latin typeface="Calibri"/>
              </a:defRPr>
            </a:pPr>
            <a:r>
              <a:t>Train 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880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PyTorch GPT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286000"/>
            <a:ext cx="2011680" cy="128016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377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4444"/>
                </a:solidFill>
                <a:latin typeface="Calibri"/>
              </a:defRPr>
            </a:pPr>
            <a:r>
              <a:t>Ratchet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880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Keep if better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286000"/>
            <a:ext cx="2011680" cy="128016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BF5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2377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F5AF2"/>
                </a:solidFill>
                <a:latin typeface="Calibri"/>
              </a:defRPr>
            </a:pPr>
            <a:r>
              <a:t>Git Commit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880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Auto-commit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2286000"/>
            <a:ext cx="2011680" cy="128016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2377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F88"/>
                </a:solidFill>
                <a:latin typeface="Calibri"/>
              </a:defRPr>
            </a:pPr>
            <a:r>
              <a:t>Causal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880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3 Tests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468880" y="2697480"/>
            <a:ext cx="320040" cy="320040"/>
          </a:xfrm>
          <a:prstGeom prst="rightArrow">
            <a:avLst/>
          </a:prstGeom>
          <a:solidFill>
            <a:srgbClr val="66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4754880" y="2697480"/>
            <a:ext cx="320040" cy="320040"/>
          </a:xfrm>
          <a:prstGeom prst="rightArrow">
            <a:avLst/>
          </a:prstGeom>
          <a:solidFill>
            <a:srgbClr val="66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7040880" y="2697480"/>
            <a:ext cx="320040" cy="320040"/>
          </a:xfrm>
          <a:prstGeom prst="rightArrow">
            <a:avLst/>
          </a:prstGeom>
          <a:solidFill>
            <a:srgbClr val="66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9326880" y="2697480"/>
            <a:ext cx="320040" cy="320040"/>
          </a:xfrm>
          <a:prstGeom prst="rightArrow">
            <a:avLst/>
          </a:prstGeom>
          <a:solidFill>
            <a:srgbClr val="66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88"/>
                </a:solidFill>
                <a:latin typeface="Calibri"/>
              </a:defRPr>
            </a:pPr>
            <a:r>
              <a:t>File Structure: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5720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train.py           - Main GPT training (agent modifies this)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prepare.py          - Data prep, tokenizer, evaluation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causal/__init__.py   - Package init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causal/interceptor.py - Entry point for 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5720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causal/ablation.py    - Test A: Reverse patch + retrain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causal/replication.py  - Test B: Multi-seed runs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causal/transfer.py     - Test C: Baseline comparison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causal/classifier.py   - Score combination +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88"/>
                </a:solidFill>
                <a:latin typeface="Calibri"/>
              </a:defRPr>
            </a:pPr>
            <a:r>
              <a:t>OUR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Three Causal Tests, One Confidence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77"/>
                </a:solidFill>
                <a:latin typeface="Calibri"/>
              </a:defRPr>
            </a:pPr>
            <a:r>
              <a:t>Based on Pearl's do-calculus applied to discrete program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383280" cy="41148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BF5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F5AF2"/>
                </a:solidFill>
                <a:latin typeface="Calibri"/>
              </a:defRPr>
            </a:pPr>
            <a:r>
              <a:t>Test A: Ablation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Weight: 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Reverse the agent's patch.</a:t>
            </a:r>
            <a:br/>
            <a:r>
              <a:t>Re-run training.</a:t>
            </a:r>
            <a:br/>
            <a:r>
              <a:t>If val_bpb worsens without</a:t>
            </a:r>
            <a:br/>
            <a:r>
              <a:t>the change, it was causal.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77"/>
                </a:solidFill>
                <a:latin typeface="Calibri"/>
              </a:defRPr>
            </a:pPr>
            <a:r>
              <a:t>do(X=0): Intervene by removing</a:t>
            </a:r>
            <a:br/>
            <a:r>
              <a:t>the change and observe effect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103120"/>
            <a:ext cx="3383280" cy="41148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00B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39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BFF"/>
                </a:solidFill>
                <a:latin typeface="Calibri"/>
              </a:defRPr>
            </a:pPr>
            <a:r>
              <a:t>Test B: Replication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2697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Weight: 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32004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Run 3x with different seeds:</a:t>
            </a:r>
            <a:br/>
            <a:r>
              <a:t>[42, 137, 999]</a:t>
            </a:r>
            <a:br/>
            <a:r>
              <a:t>Low variance = seed-independent</a:t>
            </a:r>
            <a:br/>
            <a:r>
              <a:t>= genuinely causal.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48463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77"/>
                </a:solidFill>
                <a:latin typeface="Calibri"/>
              </a:defRPr>
            </a:pPr>
            <a:r>
              <a:t>Variance threshold: 0.002</a:t>
            </a:r>
            <a:br/>
            <a:r>
              <a:t>Measures seed independence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103120"/>
            <a:ext cx="3383280" cy="41148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C00"/>
                </a:solidFill>
                <a:latin typeface="Calibri"/>
              </a:defRPr>
            </a:pPr>
            <a:r>
              <a:t>Test C: Transfer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697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Weight: 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2004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Re-run and compare to a</a:t>
            </a:r>
            <a:br/>
            <a:r>
              <a:t>stored baseline value.</a:t>
            </a:r>
            <a:br/>
            <a:r>
              <a:t>Consistent improvement =</a:t>
            </a:r>
            <a:br/>
            <a:r>
              <a:t>generalizable = causal.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8463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77"/>
                </a:solidFill>
                <a:latin typeface="Calibri"/>
              </a:defRPr>
            </a:pPr>
            <a:r>
              <a:t>Smoothed scoring:</a:t>
            </a:r>
            <a:br/>
            <a:r>
              <a:t>&gt;0.001 improvement = 1.0</a:t>
            </a:r>
            <a:br/>
            <a:r>
              <a:t>Marginal = 0.7, Flat = 0.3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88"/>
                </a:solidFill>
                <a:latin typeface="Calibri"/>
              </a:defRPr>
            </a:pPr>
            <a:r>
              <a:t>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Causal Confidence Score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144000" cy="128016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FF88"/>
                </a:solidFill>
                <a:latin typeface="Consolas"/>
              </a:defRPr>
            </a:pPr>
            <a:r>
              <a:t>score  =  0.50 x Ablation  +  0.30 x Replication  +  0.20 x Transfer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Classification Thresholds: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069080"/>
            <a:ext cx="137160" cy="27432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023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8"/>
                </a:solidFill>
                <a:latin typeface="Consolas"/>
              </a:defRPr>
            </a:pPr>
            <a:r>
              <a:t>&gt; 0.80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Strongly Causal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Calibri"/>
              </a:defRPr>
            </a:pPr>
            <a:r>
              <a:t>High confidence. Change is genuinely causal.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709160"/>
            <a:ext cx="137160" cy="274320"/>
          </a:xfrm>
          <a:prstGeom prst="roundRect">
            <a:avLst/>
          </a:prstGeom>
          <a:solidFill>
            <a:srgbClr val="00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BFF"/>
                </a:solidFill>
                <a:latin typeface="Consolas"/>
              </a:defRPr>
            </a:pPr>
            <a:r>
              <a:t>&gt; 0.50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Likely Causal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Calibri"/>
              </a:defRPr>
            </a:pPr>
            <a:r>
              <a:t>Moderate confidence. Probably real but verify.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349240"/>
            <a:ext cx="137160" cy="274320"/>
          </a:xfrm>
          <a:prstGeom prst="round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5303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C00"/>
                </a:solidFill>
                <a:latin typeface="Consolas"/>
              </a:defRPr>
            </a:pPr>
            <a:r>
              <a:t>&gt; 0.20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5303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Uncertain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Calibri"/>
              </a:defRPr>
            </a:pPr>
            <a:r>
              <a:t>Low confidence. Could be noise.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989320"/>
            <a:ext cx="137160" cy="274320"/>
          </a:xfrm>
          <a:prstGeom prst="round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5943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444"/>
                </a:solidFill>
                <a:latin typeface="Consolas"/>
              </a:defRPr>
            </a:pPr>
            <a:r>
              <a:t>&lt; 0.20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5943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Spurious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Calibri"/>
              </a:defRPr>
            </a:pPr>
            <a:r>
              <a:t>Very likely noise or seed-dependent.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Weight Distribution: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023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Ablation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4069080"/>
            <a:ext cx="2743200" cy="228600"/>
          </a:xfrm>
          <a:prstGeom prst="roundRect">
            <a:avLst/>
          </a:prstGeom>
          <a:solidFill>
            <a:srgbClr val="2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61120" y="4069080"/>
            <a:ext cx="1371600" cy="228600"/>
          </a:xfrm>
          <a:prstGeom prst="round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0" y="40233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F5AF2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4754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Replication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20" y="4800600"/>
            <a:ext cx="2743200" cy="228600"/>
          </a:xfrm>
          <a:prstGeom prst="roundRect">
            <a:avLst/>
          </a:prstGeom>
          <a:solidFill>
            <a:srgbClr val="2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961120" y="4800600"/>
            <a:ext cx="822960" cy="228600"/>
          </a:xfrm>
          <a:prstGeom prst="roundRect">
            <a:avLst/>
          </a:prstGeom>
          <a:solidFill>
            <a:srgbClr val="00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0" y="47548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BFF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5486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Transfer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1120" y="5532120"/>
            <a:ext cx="2743200" cy="228600"/>
          </a:xfrm>
          <a:prstGeom prst="roundRect">
            <a:avLst/>
          </a:prstGeom>
          <a:solidFill>
            <a:srgbClr val="2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961120" y="5532120"/>
            <a:ext cx="548640" cy="228600"/>
          </a:xfrm>
          <a:prstGeom prst="round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0" y="54864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CC00"/>
                </a:solidFill>
                <a:latin typeface="Calibri"/>
              </a:defRPr>
            </a:pPr>
            <a:r>
              <a:t>20%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88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All 15 Experiments - val_bpb Performance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64592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88"/>
                </a:solidFill>
                <a:latin typeface="Calibri"/>
              </a:defRPr>
            </a:pPr>
            <a:r>
              <a:t>CAUSAL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Verified Commits - Detailed Breakdown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00B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BFF"/>
                </a:solidFill>
                <a:latin typeface="Consolas"/>
              </a:defRPr>
            </a:pPr>
            <a:r>
              <a:t>Commit: 91c5406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Planted Spurious Change (seed exploit)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BBFF"/>
                </a:solidFill>
                <a:latin typeface="Calibri"/>
              </a:defRPr>
            </a:pPr>
            <a:r>
              <a:t>0.512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063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BFF"/>
                </a:solidFill>
                <a:latin typeface="Calibri"/>
              </a:defRPr>
            </a:pPr>
            <a:r>
              <a:t>LIKELY CAUSAL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4903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Ablation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3794759"/>
            <a:ext cx="2286000" cy="182880"/>
          </a:xfrm>
          <a:prstGeom prst="roundRect">
            <a:avLst/>
          </a:prstGeom>
          <a:solidFill>
            <a:srgbClr val="2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60320" y="3794759"/>
            <a:ext cx="1143000" cy="182880"/>
          </a:xfrm>
          <a:prstGeom prst="round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374903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F5AF2"/>
                </a:solidFill>
                <a:latin typeface="Consolas"/>
              </a:defRPr>
            </a:pPr>
            <a:r>
              <a:t>0.500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89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Replication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4434840"/>
            <a:ext cx="2286000" cy="182880"/>
          </a:xfrm>
          <a:prstGeom prst="roundRect">
            <a:avLst/>
          </a:prstGeom>
          <a:solidFill>
            <a:srgbClr val="2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560320" y="4434840"/>
            <a:ext cx="1997964" cy="182880"/>
          </a:xfrm>
          <a:prstGeom prst="roundRect">
            <a:avLst/>
          </a:prstGeom>
          <a:solidFill>
            <a:srgbClr val="00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4389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BFF"/>
                </a:solidFill>
                <a:latin typeface="Consolas"/>
              </a:defRPr>
            </a:pPr>
            <a:r>
              <a:t>0.874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029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Transfer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5074920"/>
            <a:ext cx="2286000" cy="182880"/>
          </a:xfrm>
          <a:prstGeom prst="roundRect">
            <a:avLst/>
          </a:prstGeom>
          <a:solidFill>
            <a:srgbClr val="2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50292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CC00"/>
                </a:solidFill>
                <a:latin typeface="Consolas"/>
              </a:defRPr>
            </a:pPr>
            <a:r>
              <a:t>0.000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486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CC00"/>
                </a:solidFill>
                <a:latin typeface="Calibri"/>
              </a:defRPr>
            </a:pPr>
            <a:r>
              <a:t>Flagged as borderline - seed injection</a:t>
            </a:r>
            <a:br/>
            <a:r>
              <a:t>detected via low transfer score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FF88"/>
                </a:solidFill>
                <a:latin typeface="Consolas"/>
              </a:defRPr>
            </a:pPr>
            <a:r>
              <a:t>Commit: ec60aec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468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Real Change (1.5x Learning Rate)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9260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FF88"/>
                </a:solidFill>
                <a:latin typeface="Calibri"/>
              </a:defRPr>
            </a:pPr>
            <a:r>
              <a:t>0.546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063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88"/>
                </a:solidFill>
                <a:latin typeface="Calibri"/>
              </a:defRPr>
            </a:pPr>
            <a:r>
              <a:t>LIKELY CAUSAL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74903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Ablation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794759"/>
            <a:ext cx="2286000" cy="182880"/>
          </a:xfrm>
          <a:prstGeom prst="roundRect">
            <a:avLst/>
          </a:prstGeom>
          <a:solidFill>
            <a:srgbClr val="2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38160" y="3794759"/>
            <a:ext cx="1143000" cy="182880"/>
          </a:xfrm>
          <a:prstGeom prst="round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07040" y="374903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F5AF2"/>
                </a:solidFill>
                <a:latin typeface="Consolas"/>
              </a:defRPr>
            </a:pPr>
            <a:r>
              <a:t>0.500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389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Replication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4434840"/>
            <a:ext cx="2286000" cy="182880"/>
          </a:xfrm>
          <a:prstGeom prst="roundRect">
            <a:avLst/>
          </a:prstGeom>
          <a:solidFill>
            <a:srgbClr val="2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38160" y="4434840"/>
            <a:ext cx="2256282" cy="182880"/>
          </a:xfrm>
          <a:prstGeom prst="roundRect">
            <a:avLst/>
          </a:prstGeom>
          <a:solidFill>
            <a:srgbClr val="00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07040" y="4389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BFF"/>
                </a:solidFill>
                <a:latin typeface="Consolas"/>
              </a:defRPr>
            </a:pPr>
            <a:r>
              <a:t>0.987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029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Transfer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5074920"/>
            <a:ext cx="2286000" cy="182880"/>
          </a:xfrm>
          <a:prstGeom prst="roundRect">
            <a:avLst/>
          </a:prstGeom>
          <a:solidFill>
            <a:srgbClr val="2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07040" y="50292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CC00"/>
                </a:solidFill>
                <a:latin typeface="Consolas"/>
              </a:defRPr>
            </a:pPr>
            <a:r>
              <a:t>0.000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486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CC00"/>
                </a:solidFill>
                <a:latin typeface="Calibri"/>
              </a:defRPr>
            </a:pPr>
            <a:r>
              <a:t>High replication (0.987) but zero transfer</a:t>
            </a:r>
            <a:br/>
            <a:r>
              <a:t>suggests hardware-specific optimization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88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We Discovered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560320" cy="146304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FF88"/>
                </a:solidFill>
                <a:latin typeface="Calibri"/>
              </a:defRPr>
            </a:pPr>
            <a:r>
              <a:t>1.4239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Best val_bpb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737360"/>
            <a:ext cx="2560320" cy="146304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19202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CC00"/>
                </a:solidFill>
                <a:latin typeface="Calibri"/>
              </a:defRPr>
            </a:pPr>
            <a:r>
              <a:t>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Spurious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737360"/>
            <a:ext cx="2560320" cy="146304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BBFF"/>
                </a:solidFill>
                <a:latin typeface="Calibri"/>
              </a:defRPr>
            </a:pPr>
            <a:r>
              <a:t>2/15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Causally Verified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737360"/>
            <a:ext cx="2560320" cy="146304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9202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BF5AF2"/>
                </a:solidFill>
                <a:latin typeface="Calibri"/>
              </a:defRPr>
            </a:pPr>
            <a:r>
              <a:t>~2 hrs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Total Runtime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74720"/>
            <a:ext cx="73152" cy="54864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474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Finding 1: Baseline is Well-Optimized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4747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The original autoresearch configuration for GTX 1650 (DEPTH=4, BATCH=8K, SEQ=256) is already near-optimal. 14 out of 15 experiments failed to beat it, suggesting the 5-minute training budget acts as a natural noise filter on constrained hardware.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97680"/>
            <a:ext cx="73152" cy="54864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297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Finding 2: Replication Catches Consistency, Not Causation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29768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Both verified commits scored high on replication (0.874 and 0.987) but zero on transfer. This reveals that an improvement can be highly consistent across seeds yet still not generalize - replication alone is insufficient for causal claims.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120640"/>
            <a:ext cx="73152" cy="54864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120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Finding 3: The Planted Seed Exploit Was Detected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512064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The intentionally planted torch.manual_seed(42) injection scored 0.512 - correctly flagged as borderline rather than strongly causal. The zero transfer score was the key discriminator, showing the verification layer works.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943600"/>
            <a:ext cx="73152" cy="54864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Finding 4: Causal Verification is Feasible and Informative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594360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The entire causal verification pipeline runs in ~200 lines of Python and adds ~15 minutes per verified commit. This is practical overhead for significantly higher confidence in accepted changes.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88"/>
                </a:solidFill>
                <a:latin typeface="Calibri"/>
              </a:defRPr>
            </a:pPr>
            <a: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Standard Ratchet vs Causal Ratchet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5720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444"/>
                </a:solidFill>
                <a:latin typeface="Calibri"/>
              </a:defRPr>
            </a:pPr>
            <a:r>
              <a:t>Standard Ratchet (Before)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Accepts any improvement in val_bpb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No seed independence check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No ablation testing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No transfer validation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Vulnerable to lucky seeds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Vulnerable to data ordering effects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Vulnerable to GPU noise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No confidence scoring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Binary: keep or discard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45720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88"/>
                </a:solidFill>
                <a:latin typeface="Calibri"/>
              </a:defRPr>
            </a:pPr>
            <a:r>
              <a:t>Causal Ratchet (After)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6517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Verifies improvements are causal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Multi-seed replication (3 seeds)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Ablation: removes change to verify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Transfer: checks generalizability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Detects seed-dependent improvements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Quantifies data ordering effects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Measures consistency across runs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Continuous confidence score (0-1)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4-tier classification 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88"/>
                </a:solidFill>
                <a:latin typeface="Calibri"/>
              </a:defRPr>
            </a:pPr>
            <a:r>
              <a:t>TECHNICAL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Hardware &amp;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27432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00B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BFF"/>
                </a:solidFill>
                <a:latin typeface="Calibri"/>
              </a:defRPr>
            </a:pPr>
            <a:r>
              <a:t>Hardware: Dell G15 + GTX 1650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CCCCCC"/>
                </a:solidFill>
                <a:latin typeface="Calibri"/>
              </a:rPr>
              <a:t>GPU: NVIDIA GTX 1650 (4GB VRAM)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CCCCCC"/>
                </a:solidFill>
                <a:latin typeface="Calibri"/>
              </a:rPr>
              <a:t>No Flash Attention 3 - using PyTorch SDPA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CCCCCC"/>
                </a:solidFill>
                <a:latin typeface="Calibri"/>
              </a:rPr>
              <a:t>No Triton - no torch.compile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CCCCCC"/>
                </a:solidFill>
                <a:latin typeface="Calibri"/>
              </a:rPr>
              <a:t>MAX_SEQ_LEN = 256 (vs 2048 on H100)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CCCCCC"/>
                </a:solidFill>
                <a:latin typeface="Calibri"/>
              </a:rPr>
              <a:t>EVAL_TOKENS = 5,000 (vs 20M on H100)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CCCCCC"/>
                </a:solidFill>
                <a:latin typeface="Calibri"/>
              </a:rPr>
              <a:t>5-minute training budget per experiment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27432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BF5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5AF2"/>
                </a:solidFill>
                <a:latin typeface="Calibri"/>
              </a:defRPr>
            </a:pPr>
            <a:r>
              <a:t>Model 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5603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CCCCCC"/>
                </a:solidFill>
                <a:latin typeface="Calibri"/>
              </a:rPr>
              <a:t>Architecture: GPT (modified)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CCCCCC"/>
                </a:solidFill>
                <a:latin typeface="Calibri"/>
              </a:rPr>
              <a:t>DEPTH = 4 layers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CCCCCC"/>
                </a:solidFill>
                <a:latin typeface="Calibri"/>
              </a:rPr>
              <a:t>TOTAL_BATCH_SIZE = 8192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CCCCCC"/>
                </a:solidFill>
                <a:latin typeface="Calibri"/>
              </a:rPr>
              <a:t>DEVICE_BATCH_SIZE = 4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CCCCCC"/>
                </a:solidFill>
                <a:latin typeface="Calibri"/>
              </a:rPr>
              <a:t>Optimizer: MuonAdamW (custom)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CCCCCC"/>
                </a:solidFill>
                <a:latin typeface="Calibri"/>
              </a:rPr>
              <a:t>Attention: Scaled Dot-Product (SDPA)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10698480" cy="164592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C00"/>
                </a:solidFill>
                <a:latin typeface="Calibri"/>
              </a:defRPr>
            </a:pPr>
            <a:r>
              <a:t>Key Adaptations from H100 to GTX 1650: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4864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Flash Attention 3 replaced with F.scaled_dot_product_attention (requires manual tensor transpose B,T,H,D -&gt; B,H,T,D + GQA head expansion)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All @torch.compile decorators removed (Triton not available on Windows)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Sequence length reduced 8x, eval tokens reduced 4000x, batch size reduced 4x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88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Pearl's Do-Calculus for Program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We adapt Judea Pearl's causal inference framework to the domain of automated code optimization: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Causal Graph: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017520"/>
            <a:ext cx="1828800" cy="9144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31546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FF88"/>
                </a:solidFill>
                <a:latin typeface="Calibri"/>
              </a:defRPr>
            </a:pPr>
            <a:r>
              <a:t>Code Change</a:t>
            </a:r>
            <a:br/>
            <a:r>
              <a:t>(Treatment X)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017520"/>
            <a:ext cx="1828800" cy="9144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00B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31546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BBFF"/>
                </a:solidFill>
                <a:latin typeface="Calibri"/>
              </a:defRPr>
            </a:pPr>
            <a:r>
              <a:t>val_bpb</a:t>
            </a:r>
            <a:br/>
            <a:r>
              <a:t>(Outcome 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4754880"/>
            <a:ext cx="1828800" cy="9144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48920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444"/>
                </a:solidFill>
                <a:latin typeface="Calibri"/>
              </a:defRPr>
            </a:pPr>
            <a:r>
              <a:t>Random Seed</a:t>
            </a:r>
            <a:br/>
            <a:r>
              <a:t>(Confounder Z1)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4754880"/>
            <a:ext cx="1828800" cy="9144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48920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CC00"/>
                </a:solidFill>
                <a:latin typeface="Calibri"/>
              </a:defRPr>
            </a:pPr>
            <a:r>
              <a:t>Data Order</a:t>
            </a:r>
            <a:br/>
            <a:r>
              <a:t>(Confounder Z2)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Mapping to Do-Calculus: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9260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CCCCCC"/>
                </a:solidFill>
                <a:latin typeface="Calibri"/>
              </a:rPr>
              <a:t>P(Y | X) = Correlation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CCCCC"/>
                </a:solidFill>
                <a:latin typeface="Calibri"/>
              </a:rPr>
              <a:t>  Ratchet measures this: does val_bpb change?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CCCCC"/>
                </a:solidFill>
                <a:latin typeface="Calibri"/>
              </a:rPr>
              <a:t>P(Y | do(X)) = Causation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CCCCC"/>
                </a:solidFill>
                <a:latin typeface="Calibri"/>
              </a:rPr>
              <a:t>  Our layer measures this: does val_bpb change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CCCCC"/>
                </a:solidFill>
                <a:latin typeface="Calibri"/>
              </a:rPr>
              <a:t>  BECAUSE of the code change?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CCCCC"/>
                </a:solidFill>
                <a:latin typeface="Calibri"/>
              </a:rPr>
              <a:t>Test A: do(X=0) - ablation intervention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CCCCC"/>
                </a:solidFill>
                <a:latin typeface="Calibri"/>
              </a:rPr>
              <a:t>Test B: Marginalize over Z1 (seed)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CCCCC"/>
                </a:solidFill>
                <a:latin typeface="Calibri"/>
              </a:rPr>
              <a:t>Test C: Test across environments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88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Conclusion &amp; Future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515600" cy="146304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01168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"Karpathy's ratchet finds correlations. Our layer tests causes.</a:t>
            </a:r>
            <a:br/>
            <a:r>
              <a:t>That's the difference between research you can publish</a:t>
            </a:r>
            <a:br/>
            <a:r>
              <a:t>and research you have to re-verify by hand."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Contributions: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First empirical application of causal verification to agent-discovered program optimizations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Three-test framework (Ablation, Replication, Transfer) with weighted scoring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Demonstrated feasibility on consumer GPU hardware (GTX 1650, 4GB VRAM)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Successfully detected planted spurious improvement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Open-source implementation in ~200 lines of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Future Work: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Run on H100 with full-scale training (2048 seq len, 20M eval tokens)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Add more causal tests (Granger, instrumental variables)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Bayesian confidence scoring instead of fixed weights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Integrate directly into autoresearch's commit loop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Test with more diverse architectural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